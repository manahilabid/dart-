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C60484-ECB1-47D8-B120-F8C080223047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3484E4-E171-46BD-888A-6B6ADF99DF4E}">
      <dgm:prSet/>
      <dgm:spPr/>
      <dgm:t>
        <a:bodyPr/>
        <a:lstStyle/>
        <a:p>
          <a:r>
            <a:rPr lang="en-US" dirty="0"/>
            <a:t> Class</a:t>
          </a:r>
        </a:p>
      </dgm:t>
    </dgm:pt>
    <dgm:pt modelId="{D54B8259-BCDC-42B3-8B9B-E59E0F410740}" type="parTrans" cxnId="{177528DD-B3C9-4A53-86A8-1FC9293CDD7D}">
      <dgm:prSet/>
      <dgm:spPr/>
      <dgm:t>
        <a:bodyPr/>
        <a:lstStyle/>
        <a:p>
          <a:endParaRPr lang="en-US"/>
        </a:p>
      </dgm:t>
    </dgm:pt>
    <dgm:pt modelId="{08475B7D-AB36-4667-8CB3-DC46CF8B334E}" type="sibTrans" cxnId="{177528DD-B3C9-4A53-86A8-1FC9293CDD7D}">
      <dgm:prSet/>
      <dgm:spPr/>
      <dgm:t>
        <a:bodyPr/>
        <a:lstStyle/>
        <a:p>
          <a:endParaRPr lang="en-US"/>
        </a:p>
      </dgm:t>
    </dgm:pt>
    <dgm:pt modelId="{7902C854-118F-4B24-8673-A62A3A49A797}">
      <dgm:prSet/>
      <dgm:spPr/>
      <dgm:t>
        <a:bodyPr/>
        <a:lstStyle/>
        <a:p>
          <a:r>
            <a:rPr lang="en-US" dirty="0"/>
            <a:t> Object</a:t>
          </a:r>
        </a:p>
      </dgm:t>
    </dgm:pt>
    <dgm:pt modelId="{31FBEEB3-8B92-48E2-9D2D-B31DDE9523DE}" type="parTrans" cxnId="{526D793C-2BA7-4533-A7CF-98C0F011AD15}">
      <dgm:prSet/>
      <dgm:spPr/>
      <dgm:t>
        <a:bodyPr/>
        <a:lstStyle/>
        <a:p>
          <a:endParaRPr lang="en-US"/>
        </a:p>
      </dgm:t>
    </dgm:pt>
    <dgm:pt modelId="{34BAEE41-82B2-4FD5-BF91-3572BD40BF2B}" type="sibTrans" cxnId="{526D793C-2BA7-4533-A7CF-98C0F011AD15}">
      <dgm:prSet/>
      <dgm:spPr/>
      <dgm:t>
        <a:bodyPr/>
        <a:lstStyle/>
        <a:p>
          <a:endParaRPr lang="en-US"/>
        </a:p>
      </dgm:t>
    </dgm:pt>
    <dgm:pt modelId="{98546725-C27F-4D02-B445-57C7D0D7B331}">
      <dgm:prSet/>
      <dgm:spPr/>
      <dgm:t>
        <a:bodyPr/>
        <a:lstStyle/>
        <a:p>
          <a:r>
            <a:rPr lang="en-US" dirty="0"/>
            <a:t> Encapsulation</a:t>
          </a:r>
        </a:p>
      </dgm:t>
    </dgm:pt>
    <dgm:pt modelId="{080A032E-6A30-44CD-950F-EA97DC79173F}" type="parTrans" cxnId="{9E281132-D1C3-47BE-9B75-DE4AA1FF1481}">
      <dgm:prSet/>
      <dgm:spPr/>
      <dgm:t>
        <a:bodyPr/>
        <a:lstStyle/>
        <a:p>
          <a:endParaRPr lang="en-US"/>
        </a:p>
      </dgm:t>
    </dgm:pt>
    <dgm:pt modelId="{70801306-AC9C-4456-8566-206ABBD7EBC6}" type="sibTrans" cxnId="{9E281132-D1C3-47BE-9B75-DE4AA1FF1481}">
      <dgm:prSet/>
      <dgm:spPr/>
      <dgm:t>
        <a:bodyPr/>
        <a:lstStyle/>
        <a:p>
          <a:endParaRPr lang="en-US"/>
        </a:p>
      </dgm:t>
    </dgm:pt>
    <dgm:pt modelId="{FCB00708-8989-4F77-9714-649403362D57}">
      <dgm:prSet/>
      <dgm:spPr/>
      <dgm:t>
        <a:bodyPr/>
        <a:lstStyle/>
        <a:p>
          <a:r>
            <a:rPr lang="en-US" dirty="0"/>
            <a:t>Inheritance</a:t>
          </a:r>
        </a:p>
      </dgm:t>
    </dgm:pt>
    <dgm:pt modelId="{0D0DE18C-C513-4A56-BF57-0039BD76EB43}" type="parTrans" cxnId="{D3D7DF21-38CC-4606-89F6-6621239519C4}">
      <dgm:prSet/>
      <dgm:spPr/>
      <dgm:t>
        <a:bodyPr/>
        <a:lstStyle/>
        <a:p>
          <a:endParaRPr lang="en-US"/>
        </a:p>
      </dgm:t>
    </dgm:pt>
    <dgm:pt modelId="{FE79BA2D-FE6C-4E04-9651-2C60C9CE55C9}" type="sibTrans" cxnId="{D3D7DF21-38CC-4606-89F6-6621239519C4}">
      <dgm:prSet/>
      <dgm:spPr/>
      <dgm:t>
        <a:bodyPr/>
        <a:lstStyle/>
        <a:p>
          <a:endParaRPr lang="en-US"/>
        </a:p>
      </dgm:t>
    </dgm:pt>
    <dgm:pt modelId="{935A17B0-6499-4FB2-A5CD-AE0526833A90}">
      <dgm:prSet/>
      <dgm:spPr/>
      <dgm:t>
        <a:bodyPr/>
        <a:lstStyle/>
        <a:p>
          <a:r>
            <a:rPr lang="en-US" dirty="0"/>
            <a:t> Polymorphism</a:t>
          </a:r>
        </a:p>
      </dgm:t>
    </dgm:pt>
    <dgm:pt modelId="{A2A672E3-1DC3-4718-A0D9-0247C03D2D93}" type="parTrans" cxnId="{EE72830A-E0E6-4E49-9B46-3086DCAEEA2F}">
      <dgm:prSet/>
      <dgm:spPr/>
      <dgm:t>
        <a:bodyPr/>
        <a:lstStyle/>
        <a:p>
          <a:endParaRPr lang="en-US"/>
        </a:p>
      </dgm:t>
    </dgm:pt>
    <dgm:pt modelId="{8B725C67-6291-4D51-BB29-BE1CF161F45C}" type="sibTrans" cxnId="{EE72830A-E0E6-4E49-9B46-3086DCAEEA2F}">
      <dgm:prSet/>
      <dgm:spPr/>
      <dgm:t>
        <a:bodyPr/>
        <a:lstStyle/>
        <a:p>
          <a:endParaRPr lang="en-US"/>
        </a:p>
      </dgm:t>
    </dgm:pt>
    <dgm:pt modelId="{8EF6012F-3EFA-4FAA-B8ED-F13BF4BEFBC1}">
      <dgm:prSet/>
      <dgm:spPr/>
      <dgm:t>
        <a:bodyPr/>
        <a:lstStyle/>
        <a:p>
          <a:r>
            <a:rPr lang="en-US" dirty="0"/>
            <a:t> Abstraction</a:t>
          </a:r>
        </a:p>
      </dgm:t>
    </dgm:pt>
    <dgm:pt modelId="{0C86EC6A-FD1A-47C2-92BA-02A435ACC479}" type="parTrans" cxnId="{5D6825BB-57D5-4E05-9348-8F49D990ADBB}">
      <dgm:prSet/>
      <dgm:spPr/>
      <dgm:t>
        <a:bodyPr/>
        <a:lstStyle/>
        <a:p>
          <a:endParaRPr lang="en-US"/>
        </a:p>
      </dgm:t>
    </dgm:pt>
    <dgm:pt modelId="{AF4FAA74-5997-4D13-A072-591B0D347333}" type="sibTrans" cxnId="{5D6825BB-57D5-4E05-9348-8F49D990ADBB}">
      <dgm:prSet/>
      <dgm:spPr/>
      <dgm:t>
        <a:bodyPr/>
        <a:lstStyle/>
        <a:p>
          <a:endParaRPr lang="en-US"/>
        </a:p>
      </dgm:t>
    </dgm:pt>
    <dgm:pt modelId="{67469962-DCCE-4DB6-91B3-F6FAAAC13BA3}" type="pres">
      <dgm:prSet presAssocID="{7CC60484-ECB1-47D8-B120-F8C080223047}" presName="diagram" presStyleCnt="0">
        <dgm:presLayoutVars>
          <dgm:dir/>
          <dgm:resizeHandles val="exact"/>
        </dgm:presLayoutVars>
      </dgm:prSet>
      <dgm:spPr/>
    </dgm:pt>
    <dgm:pt modelId="{716E0CF9-8931-4417-857E-4566F6113B8E}" type="pres">
      <dgm:prSet presAssocID="{E03484E4-E171-46BD-888A-6B6ADF99DF4E}" presName="node" presStyleLbl="node1" presStyleIdx="0" presStyleCnt="6">
        <dgm:presLayoutVars>
          <dgm:bulletEnabled val="1"/>
        </dgm:presLayoutVars>
      </dgm:prSet>
      <dgm:spPr/>
    </dgm:pt>
    <dgm:pt modelId="{6425DA74-EDA5-4FAC-8BE1-69836CBA3C85}" type="pres">
      <dgm:prSet presAssocID="{08475B7D-AB36-4667-8CB3-DC46CF8B334E}" presName="sibTrans" presStyleCnt="0"/>
      <dgm:spPr/>
    </dgm:pt>
    <dgm:pt modelId="{6C0C5E03-22D7-42B4-883E-7F3A420B2C34}" type="pres">
      <dgm:prSet presAssocID="{7902C854-118F-4B24-8673-A62A3A49A797}" presName="node" presStyleLbl="node1" presStyleIdx="1" presStyleCnt="6">
        <dgm:presLayoutVars>
          <dgm:bulletEnabled val="1"/>
        </dgm:presLayoutVars>
      </dgm:prSet>
      <dgm:spPr/>
    </dgm:pt>
    <dgm:pt modelId="{B4E5A593-006F-453F-B241-36C44871DC15}" type="pres">
      <dgm:prSet presAssocID="{34BAEE41-82B2-4FD5-BF91-3572BD40BF2B}" presName="sibTrans" presStyleCnt="0"/>
      <dgm:spPr/>
    </dgm:pt>
    <dgm:pt modelId="{12295541-4F8C-4D89-B9FC-94CA596B7457}" type="pres">
      <dgm:prSet presAssocID="{98546725-C27F-4D02-B445-57C7D0D7B331}" presName="node" presStyleLbl="node1" presStyleIdx="2" presStyleCnt="6">
        <dgm:presLayoutVars>
          <dgm:bulletEnabled val="1"/>
        </dgm:presLayoutVars>
      </dgm:prSet>
      <dgm:spPr/>
    </dgm:pt>
    <dgm:pt modelId="{1D2228F1-755C-4AC6-8B02-15FE070D7060}" type="pres">
      <dgm:prSet presAssocID="{70801306-AC9C-4456-8566-206ABBD7EBC6}" presName="sibTrans" presStyleCnt="0"/>
      <dgm:spPr/>
    </dgm:pt>
    <dgm:pt modelId="{D73CD75E-3F0D-4A4C-B5E4-4C2A876A9760}" type="pres">
      <dgm:prSet presAssocID="{FCB00708-8989-4F77-9714-649403362D57}" presName="node" presStyleLbl="node1" presStyleIdx="3" presStyleCnt="6">
        <dgm:presLayoutVars>
          <dgm:bulletEnabled val="1"/>
        </dgm:presLayoutVars>
      </dgm:prSet>
      <dgm:spPr/>
    </dgm:pt>
    <dgm:pt modelId="{D7281D05-05BA-4696-BCF9-F0D8F9608D0B}" type="pres">
      <dgm:prSet presAssocID="{FE79BA2D-FE6C-4E04-9651-2C60C9CE55C9}" presName="sibTrans" presStyleCnt="0"/>
      <dgm:spPr/>
    </dgm:pt>
    <dgm:pt modelId="{1DA1C790-4CCA-4FCA-8696-3BB15C7108D2}" type="pres">
      <dgm:prSet presAssocID="{935A17B0-6499-4FB2-A5CD-AE0526833A90}" presName="node" presStyleLbl="node1" presStyleIdx="4" presStyleCnt="6">
        <dgm:presLayoutVars>
          <dgm:bulletEnabled val="1"/>
        </dgm:presLayoutVars>
      </dgm:prSet>
      <dgm:spPr/>
    </dgm:pt>
    <dgm:pt modelId="{37029C12-8241-4202-B815-4BF2DD5F2DAC}" type="pres">
      <dgm:prSet presAssocID="{8B725C67-6291-4D51-BB29-BE1CF161F45C}" presName="sibTrans" presStyleCnt="0"/>
      <dgm:spPr/>
    </dgm:pt>
    <dgm:pt modelId="{6D9A8CFE-E6E9-4563-9868-4DEB3429B5C8}" type="pres">
      <dgm:prSet presAssocID="{8EF6012F-3EFA-4FAA-B8ED-F13BF4BEFBC1}" presName="node" presStyleLbl="node1" presStyleIdx="5" presStyleCnt="6">
        <dgm:presLayoutVars>
          <dgm:bulletEnabled val="1"/>
        </dgm:presLayoutVars>
      </dgm:prSet>
      <dgm:spPr/>
    </dgm:pt>
  </dgm:ptLst>
  <dgm:cxnLst>
    <dgm:cxn modelId="{EE72830A-E0E6-4E49-9B46-3086DCAEEA2F}" srcId="{7CC60484-ECB1-47D8-B120-F8C080223047}" destId="{935A17B0-6499-4FB2-A5CD-AE0526833A90}" srcOrd="4" destOrd="0" parTransId="{A2A672E3-1DC3-4718-A0D9-0247C03D2D93}" sibTransId="{8B725C67-6291-4D51-BB29-BE1CF161F45C}"/>
    <dgm:cxn modelId="{D3D7DF21-38CC-4606-89F6-6621239519C4}" srcId="{7CC60484-ECB1-47D8-B120-F8C080223047}" destId="{FCB00708-8989-4F77-9714-649403362D57}" srcOrd="3" destOrd="0" parTransId="{0D0DE18C-C513-4A56-BF57-0039BD76EB43}" sibTransId="{FE79BA2D-FE6C-4E04-9651-2C60C9CE55C9}"/>
    <dgm:cxn modelId="{9E281132-D1C3-47BE-9B75-DE4AA1FF1481}" srcId="{7CC60484-ECB1-47D8-B120-F8C080223047}" destId="{98546725-C27F-4D02-B445-57C7D0D7B331}" srcOrd="2" destOrd="0" parTransId="{080A032E-6A30-44CD-950F-EA97DC79173F}" sibTransId="{70801306-AC9C-4456-8566-206ABBD7EBC6}"/>
    <dgm:cxn modelId="{526D793C-2BA7-4533-A7CF-98C0F011AD15}" srcId="{7CC60484-ECB1-47D8-B120-F8C080223047}" destId="{7902C854-118F-4B24-8673-A62A3A49A797}" srcOrd="1" destOrd="0" parTransId="{31FBEEB3-8B92-48E2-9D2D-B31DDE9523DE}" sibTransId="{34BAEE41-82B2-4FD5-BF91-3572BD40BF2B}"/>
    <dgm:cxn modelId="{C2C6537C-B26C-4FED-8CBE-1A64D278A38E}" type="presOf" srcId="{8EF6012F-3EFA-4FAA-B8ED-F13BF4BEFBC1}" destId="{6D9A8CFE-E6E9-4563-9868-4DEB3429B5C8}" srcOrd="0" destOrd="0" presId="urn:microsoft.com/office/officeart/2005/8/layout/default"/>
    <dgm:cxn modelId="{58CA729D-BB54-4463-9605-AE3C2384F610}" type="presOf" srcId="{98546725-C27F-4D02-B445-57C7D0D7B331}" destId="{12295541-4F8C-4D89-B9FC-94CA596B7457}" srcOrd="0" destOrd="0" presId="urn:microsoft.com/office/officeart/2005/8/layout/default"/>
    <dgm:cxn modelId="{0F42F0AC-0264-451A-AEF0-0F8C807B1D43}" type="presOf" srcId="{7CC60484-ECB1-47D8-B120-F8C080223047}" destId="{67469962-DCCE-4DB6-91B3-F6FAAAC13BA3}" srcOrd="0" destOrd="0" presId="urn:microsoft.com/office/officeart/2005/8/layout/default"/>
    <dgm:cxn modelId="{5D6825BB-57D5-4E05-9348-8F49D990ADBB}" srcId="{7CC60484-ECB1-47D8-B120-F8C080223047}" destId="{8EF6012F-3EFA-4FAA-B8ED-F13BF4BEFBC1}" srcOrd="5" destOrd="0" parTransId="{0C86EC6A-FD1A-47C2-92BA-02A435ACC479}" sibTransId="{AF4FAA74-5997-4D13-A072-591B0D347333}"/>
    <dgm:cxn modelId="{A9A12CC2-7835-4B41-9A73-53538058487E}" type="presOf" srcId="{935A17B0-6499-4FB2-A5CD-AE0526833A90}" destId="{1DA1C790-4CCA-4FCA-8696-3BB15C7108D2}" srcOrd="0" destOrd="0" presId="urn:microsoft.com/office/officeart/2005/8/layout/default"/>
    <dgm:cxn modelId="{F2451ED6-2DF0-43F3-9096-16388489BA2C}" type="presOf" srcId="{7902C854-118F-4B24-8673-A62A3A49A797}" destId="{6C0C5E03-22D7-42B4-883E-7F3A420B2C34}" srcOrd="0" destOrd="0" presId="urn:microsoft.com/office/officeart/2005/8/layout/default"/>
    <dgm:cxn modelId="{177528DD-B3C9-4A53-86A8-1FC9293CDD7D}" srcId="{7CC60484-ECB1-47D8-B120-F8C080223047}" destId="{E03484E4-E171-46BD-888A-6B6ADF99DF4E}" srcOrd="0" destOrd="0" parTransId="{D54B8259-BCDC-42B3-8B9B-E59E0F410740}" sibTransId="{08475B7D-AB36-4667-8CB3-DC46CF8B334E}"/>
    <dgm:cxn modelId="{975E9FE4-04BB-4CB3-B798-5ECD9685BB9C}" type="presOf" srcId="{FCB00708-8989-4F77-9714-649403362D57}" destId="{D73CD75E-3F0D-4A4C-B5E4-4C2A876A9760}" srcOrd="0" destOrd="0" presId="urn:microsoft.com/office/officeart/2005/8/layout/default"/>
    <dgm:cxn modelId="{95FC4FE8-AA9C-43C9-BB16-7F8323F44DBA}" type="presOf" srcId="{E03484E4-E171-46BD-888A-6B6ADF99DF4E}" destId="{716E0CF9-8931-4417-857E-4566F6113B8E}" srcOrd="0" destOrd="0" presId="urn:microsoft.com/office/officeart/2005/8/layout/default"/>
    <dgm:cxn modelId="{085D9486-E1B3-4D62-94B8-45B9C1EA1E69}" type="presParOf" srcId="{67469962-DCCE-4DB6-91B3-F6FAAAC13BA3}" destId="{716E0CF9-8931-4417-857E-4566F6113B8E}" srcOrd="0" destOrd="0" presId="urn:microsoft.com/office/officeart/2005/8/layout/default"/>
    <dgm:cxn modelId="{1AC7DAF6-D53D-47F7-AD98-8D9404222831}" type="presParOf" srcId="{67469962-DCCE-4DB6-91B3-F6FAAAC13BA3}" destId="{6425DA74-EDA5-4FAC-8BE1-69836CBA3C85}" srcOrd="1" destOrd="0" presId="urn:microsoft.com/office/officeart/2005/8/layout/default"/>
    <dgm:cxn modelId="{70128101-9ACF-4B61-9E0B-751ACC375E7F}" type="presParOf" srcId="{67469962-DCCE-4DB6-91B3-F6FAAAC13BA3}" destId="{6C0C5E03-22D7-42B4-883E-7F3A420B2C34}" srcOrd="2" destOrd="0" presId="urn:microsoft.com/office/officeart/2005/8/layout/default"/>
    <dgm:cxn modelId="{3355D270-35AE-4CE8-965C-EFB57E00D643}" type="presParOf" srcId="{67469962-DCCE-4DB6-91B3-F6FAAAC13BA3}" destId="{B4E5A593-006F-453F-B241-36C44871DC15}" srcOrd="3" destOrd="0" presId="urn:microsoft.com/office/officeart/2005/8/layout/default"/>
    <dgm:cxn modelId="{FB6D0419-F11E-4E6D-93D1-D4AA738B2523}" type="presParOf" srcId="{67469962-DCCE-4DB6-91B3-F6FAAAC13BA3}" destId="{12295541-4F8C-4D89-B9FC-94CA596B7457}" srcOrd="4" destOrd="0" presId="urn:microsoft.com/office/officeart/2005/8/layout/default"/>
    <dgm:cxn modelId="{35505475-D331-429C-9FBB-295AB071DF3B}" type="presParOf" srcId="{67469962-DCCE-4DB6-91B3-F6FAAAC13BA3}" destId="{1D2228F1-755C-4AC6-8B02-15FE070D7060}" srcOrd="5" destOrd="0" presId="urn:microsoft.com/office/officeart/2005/8/layout/default"/>
    <dgm:cxn modelId="{F377B6AF-D268-4A40-8E0F-866CF27C4519}" type="presParOf" srcId="{67469962-DCCE-4DB6-91B3-F6FAAAC13BA3}" destId="{D73CD75E-3F0D-4A4C-B5E4-4C2A876A9760}" srcOrd="6" destOrd="0" presId="urn:microsoft.com/office/officeart/2005/8/layout/default"/>
    <dgm:cxn modelId="{DB1D7CF0-1264-47C9-954B-2E648EF17FA2}" type="presParOf" srcId="{67469962-DCCE-4DB6-91B3-F6FAAAC13BA3}" destId="{D7281D05-05BA-4696-BCF9-F0D8F9608D0B}" srcOrd="7" destOrd="0" presId="urn:microsoft.com/office/officeart/2005/8/layout/default"/>
    <dgm:cxn modelId="{3CEADBE2-27CF-4069-8DF7-B9FD7841C0A8}" type="presParOf" srcId="{67469962-DCCE-4DB6-91B3-F6FAAAC13BA3}" destId="{1DA1C790-4CCA-4FCA-8696-3BB15C7108D2}" srcOrd="8" destOrd="0" presId="urn:microsoft.com/office/officeart/2005/8/layout/default"/>
    <dgm:cxn modelId="{3E86F88E-847A-4697-B85C-8EF67439EC3D}" type="presParOf" srcId="{67469962-DCCE-4DB6-91B3-F6FAAAC13BA3}" destId="{37029C12-8241-4202-B815-4BF2DD5F2DAC}" srcOrd="9" destOrd="0" presId="urn:microsoft.com/office/officeart/2005/8/layout/default"/>
    <dgm:cxn modelId="{FE81DA59-1EB1-4D32-9FB7-DF237BA5F01A}" type="presParOf" srcId="{67469962-DCCE-4DB6-91B3-F6FAAAC13BA3}" destId="{6D9A8CFE-E6E9-4563-9868-4DEB3429B5C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E0CF9-8931-4417-857E-4566F6113B8E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 Class</a:t>
          </a:r>
        </a:p>
      </dsp:txBody>
      <dsp:txXfrm>
        <a:off x="0" y="39687"/>
        <a:ext cx="3286125" cy="1971675"/>
      </dsp:txXfrm>
    </dsp:sp>
    <dsp:sp modelId="{6C0C5E03-22D7-42B4-883E-7F3A420B2C34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 Object</a:t>
          </a:r>
        </a:p>
      </dsp:txBody>
      <dsp:txXfrm>
        <a:off x="3614737" y="39687"/>
        <a:ext cx="3286125" cy="1971675"/>
      </dsp:txXfrm>
    </dsp:sp>
    <dsp:sp modelId="{12295541-4F8C-4D89-B9FC-94CA596B7457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 Encapsulation</a:t>
          </a:r>
        </a:p>
      </dsp:txBody>
      <dsp:txXfrm>
        <a:off x="7229475" y="39687"/>
        <a:ext cx="3286125" cy="1971675"/>
      </dsp:txXfrm>
    </dsp:sp>
    <dsp:sp modelId="{D73CD75E-3F0D-4A4C-B5E4-4C2A876A9760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Inheritance</a:t>
          </a:r>
        </a:p>
      </dsp:txBody>
      <dsp:txXfrm>
        <a:off x="0" y="2339975"/>
        <a:ext cx="3286125" cy="1971675"/>
      </dsp:txXfrm>
    </dsp:sp>
    <dsp:sp modelId="{1DA1C790-4CCA-4FCA-8696-3BB15C7108D2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 Polymorphism</a:t>
          </a:r>
        </a:p>
      </dsp:txBody>
      <dsp:txXfrm>
        <a:off x="3614737" y="2339975"/>
        <a:ext cx="3286125" cy="1971675"/>
      </dsp:txXfrm>
    </dsp:sp>
    <dsp:sp modelId="{6D9A8CFE-E6E9-4563-9868-4DEB3429B5C8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 Abstraction</a:t>
          </a:r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5E7A9-380B-AA75-10A3-F6D58A7B7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22D6F1-349A-E1DE-8CC6-B9224E4A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6F5E0-385C-5D63-B861-C0CFE81A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502A2-8365-3419-0F60-F6A9543F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9408-D77F-BFE1-9606-A0DF8EBA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0BE5-C59C-704B-4E6B-5F8406A3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618FD-9B19-44E6-D7A1-478DE39D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0DD6-60D7-5EF4-F8D5-368872AD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CD25C-F37A-9538-EECD-D2925E95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DF7DE-367F-A5A3-3036-8B194BC2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9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86CB-0D8B-9CF0-3863-6E1B7AA5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4570F-E896-5DE0-8451-488A1F8D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2B3D2-9FA7-A05B-61BC-6E965F6D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23FCF-26D7-A48E-19E6-CC5E27C2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15C7E-8FB0-3F7D-F729-876C06D7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2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8C10-0EAA-0161-B808-C553AEB59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48F3C-91F0-3E46-1A76-BA5B98329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48F5D-2737-230F-D59D-38332E456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8B8F9-C954-C0D9-F34F-5763960E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82F8E-21D4-4A34-A7C1-D2743DF2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C79F5-29FB-D516-87B6-AECA20EF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0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06E7-77F5-D87F-B2BC-2CFE2BFA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9C546-CF0D-1A15-7030-158DC5682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03AD3-4A4A-9F86-2D32-C0A6C1A2B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DC23C-630F-3EB9-0D28-D5CAE9BF57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9E551-4F8A-6171-529A-F36D64D16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B4F6E-24DB-F16C-7CCD-AF35E96A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43294B-1FC7-6958-7DB8-6F122631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FCE7A-F5C7-0FC6-A67C-5B88D275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2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1220-509D-349B-46F5-E8B97730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8BB6E-124E-537D-3924-3D16668E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EBE94-DEED-A9FF-CD71-B17DF96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A9282-2084-1D7D-4406-329B9884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0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A0D8-D6F6-13A6-AD4D-91955E05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52C7D-96B6-7575-22D0-E0CAE554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89A59-37F0-F2B3-CACB-E9267C73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5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596BC-F18B-2140-86FE-290FECAE3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4DE23-6DF5-42C0-81DA-D15D107B3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AF400-D24A-1E7A-4629-5189680D9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A083D-AA43-D31F-B8ED-3533D7E6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D379C-6245-E7A9-0ADF-0A784134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99EE1-88E3-BCFC-4906-D4F61B4B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0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FC23-D3E1-7706-E6A4-67AFA809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56000-0A00-1B43-CE52-5215039D3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A1D8B-6E0F-F99A-8BAB-A17171372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B504A-1364-5DEA-D316-09628E13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E7DBE-D304-6017-0E4D-3ABE95AF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C8825-625E-DF7A-D6C5-590521F1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3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E62D-CF3A-B1DB-45DD-8F7ECF67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FB9EB-4E5F-5DCF-45F7-56AAE3C51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E48C8-4E12-459E-49BF-150499A4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713CE-5DCB-EE5B-0ABA-0F437713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E738-F53F-EBAD-BF48-B8539EEE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E6567-D989-2A93-AA7D-277C89938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703DE-BA96-5FD6-A3F9-F15ADB045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BC10A-9672-A452-06E3-5AFEAC0B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C3013-34A1-55DF-70D0-3CF67E40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91678-1ABA-E7E5-5576-DF7F3512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1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5654D4-F03A-FA67-991F-0B98CD86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C58C5-CCFA-CB5B-A747-764013D77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BABF6-FBD3-C66A-26D0-CB00EBA51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16C7A-A5D0-4AE2-95E8-C7748F3AD0A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D7E03-246B-DEE4-5441-9466333E0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D15B-065B-74CD-2A53-BC400A01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187AD-808C-43D6-AA11-48E0346E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5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C412C-6EB2-F358-5A16-1DDC95659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b="1">
                <a:solidFill>
                  <a:srgbClr val="FFFFFF"/>
                </a:solidFill>
              </a:rPr>
              <a:t>OOPS IN DART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D920F-AA13-3DC7-6CE3-FBFD0E8BC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object-oriented programming (OOP)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77200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9343F-2648-EB85-1038-F549F12A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OOPS?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8E30-1FC9-5E49-9270-63C5E058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Dart is a "pure" object-oriented programming (OOP) language that structures code around </a:t>
            </a:r>
            <a:r>
              <a:rPr lang="en-US" b="1">
                <a:effectLst/>
              </a:rPr>
              <a:t>objects</a:t>
            </a:r>
            <a:r>
              <a:rPr lang="en-US"/>
              <a:t> and </a:t>
            </a:r>
            <a:r>
              <a:rPr lang="en-US" b="1">
                <a:effectLst/>
              </a:rPr>
              <a:t>classes</a:t>
            </a:r>
            <a:r>
              <a:rPr lang="en-US"/>
              <a:t>, and supports key principles such as </a:t>
            </a:r>
            <a:r>
              <a:rPr lang="en-US" b="1">
                <a:effectLst/>
              </a:rPr>
              <a:t>encapsulation</a:t>
            </a:r>
            <a:r>
              <a:rPr lang="en-US"/>
              <a:t>, </a:t>
            </a:r>
            <a:r>
              <a:rPr lang="en-US" b="1">
                <a:effectLst/>
              </a:rPr>
              <a:t>inheritance</a:t>
            </a:r>
            <a:r>
              <a:rPr lang="en-US"/>
              <a:t>, </a:t>
            </a:r>
            <a:r>
              <a:rPr lang="en-US" b="1">
                <a:effectLst/>
              </a:rPr>
              <a:t>polymorphism</a:t>
            </a:r>
            <a:r>
              <a:rPr lang="en-US"/>
              <a:t>, and </a:t>
            </a:r>
            <a:r>
              <a:rPr lang="en-US" b="1">
                <a:effectLst/>
              </a:rPr>
              <a:t>abstraction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313723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780160-16AA-64C5-202A-C6FC64AB0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4311" b="1142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48B92-DBBA-FC3C-1E29-8D591D79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Main OOP Concepts</a:t>
            </a:r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C09BD867-E3DB-18D8-E5DD-4CCE7F26A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7169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7908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3F634B-5A2E-3DE4-4851-2F4302CCE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/>
              <a:t>CLASS &amp; OOPS IN DART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566EA4-32E9-3C87-1F96-45F783E98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In Object-Oriented Programming (OOP), a </a:t>
            </a:r>
            <a:r>
              <a:rPr lang="en-US" sz="1800" b="1">
                <a:effectLst/>
              </a:rPr>
              <a:t>class</a:t>
            </a:r>
            <a:r>
              <a:rPr lang="en-US" sz="1800"/>
              <a:t> is a blueprint for creating objects, while an </a:t>
            </a:r>
            <a:r>
              <a:rPr lang="en-US" sz="1800" b="1">
                <a:effectLst/>
              </a:rPr>
              <a:t>object</a:t>
            </a:r>
            <a:r>
              <a:rPr lang="en-US" sz="1800"/>
              <a:t> is a specific instance of that class. 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6889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D66FD8-08A1-A915-B900-D8DF5D0D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705" y="2288613"/>
            <a:ext cx="3722933" cy="1140387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  CLASS  </a:t>
            </a:r>
            <a:br>
              <a:rPr lang="en-US" sz="2400" b="1" dirty="0">
                <a:solidFill>
                  <a:srgbClr val="FFFFFF"/>
                </a:solidFill>
              </a:rPr>
            </a:br>
            <a:r>
              <a:rPr lang="en-US" sz="2400" b="1" dirty="0">
                <a:solidFill>
                  <a:srgbClr val="FFFFFF"/>
                </a:solidFill>
              </a:rPr>
              <a:t> &amp;   </a:t>
            </a:r>
            <a:br>
              <a:rPr lang="en-US" sz="2400" b="1" dirty="0">
                <a:solidFill>
                  <a:srgbClr val="FFFFFF"/>
                </a:solidFill>
              </a:rPr>
            </a:br>
            <a:r>
              <a:rPr lang="en-US" sz="2400" b="1" dirty="0">
                <a:solidFill>
                  <a:srgbClr val="FFFFFF"/>
                </a:solidFill>
              </a:rPr>
              <a:t>        OBJECT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7B5270-9002-E658-9D03-44AA342AC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25466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In object-oriented programming (OOP), a </a:t>
            </a:r>
            <a:r>
              <a:rPr lang="en-US" sz="2000" b="1"/>
              <a:t>class</a:t>
            </a:r>
            <a:r>
              <a:rPr lang="en-US" sz="2000"/>
              <a:t> is a </a:t>
            </a:r>
            <a:r>
              <a:rPr lang="en-US" sz="2000" b="1">
                <a:effectLst/>
              </a:rPr>
              <a:t>blueprint</a:t>
            </a:r>
            <a:r>
              <a:rPr lang="en-US" sz="2000"/>
              <a:t> or </a:t>
            </a:r>
            <a:r>
              <a:rPr lang="en-US" sz="2000" b="1">
                <a:effectLst/>
              </a:rPr>
              <a:t>template</a:t>
            </a:r>
            <a:r>
              <a:rPr lang="en-US" sz="2000"/>
              <a:t> for creating objects. It defines the common structure (attributes) and behavior (methods) that all objects of a specific type will have, but it is not an actual, usable entity itself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868F6-20E3-2F29-5576-D847E7B5F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3671315"/>
            <a:ext cx="5057398" cy="254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In object-oriented programming (OOP), an </a:t>
            </a:r>
            <a:r>
              <a:rPr lang="en-US" sz="2000" b="1"/>
              <a:t>object</a:t>
            </a:r>
            <a:r>
              <a:rPr lang="en-US" sz="2000"/>
              <a:t> is a fundamental, self-contained unit of code that combines data (attributes or properties) and the functions (methods or behaviors) that operate on that data.</a:t>
            </a:r>
          </a:p>
        </p:txBody>
      </p:sp>
    </p:spTree>
    <p:extLst>
      <p:ext uri="{BB962C8B-B14F-4D97-AF65-F5344CB8AC3E}">
        <p14:creationId xmlns:p14="http://schemas.microsoft.com/office/powerpoint/2010/main" val="61501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B0771E-8C54-C729-0872-8F7957EBE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9641" y="2079686"/>
            <a:ext cx="5409655" cy="2838938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</a:rPr>
              <a:t>class </a:t>
            </a:r>
            <a:r>
              <a:rPr lang="en-US" sz="1800" dirty="0" err="1">
                <a:solidFill>
                  <a:srgbClr val="FFFFFF"/>
                </a:solidFill>
              </a:rPr>
              <a:t>ClassName</a:t>
            </a:r>
            <a:r>
              <a:rPr lang="en-US" sz="1800" dirty="0">
                <a:solidFill>
                  <a:srgbClr val="FFFFFF"/>
                </a:solidFill>
              </a:rPr>
              <a:t> {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  // variables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  </a:t>
            </a:r>
            <a:r>
              <a:rPr lang="en-US" sz="1800" dirty="0" err="1">
                <a:solidFill>
                  <a:srgbClr val="FFFFFF"/>
                </a:solidFill>
              </a:rPr>
              <a:t>dataType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variableName</a:t>
            </a:r>
            <a:r>
              <a:rPr lang="en-US" sz="1800" dirty="0">
                <a:solidFill>
                  <a:srgbClr val="FFFFFF"/>
                </a:solidFill>
              </a:rPr>
              <a:t>;</a:t>
            </a:r>
            <a:br>
              <a:rPr lang="en-US" sz="1800" dirty="0">
                <a:solidFill>
                  <a:srgbClr val="FFFFFF"/>
                </a:solidFill>
              </a:rPr>
            </a:b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  // method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  void </a:t>
            </a:r>
            <a:r>
              <a:rPr lang="en-US" sz="1800" dirty="0" err="1">
                <a:solidFill>
                  <a:srgbClr val="FFFFFF"/>
                </a:solidFill>
              </a:rPr>
              <a:t>methodName</a:t>
            </a:r>
            <a:r>
              <a:rPr lang="en-US" sz="1800" dirty="0">
                <a:solidFill>
                  <a:srgbClr val="FFFFFF"/>
                </a:solidFill>
              </a:rPr>
              <a:t>() {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    // code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  }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A6D4C21-5CBA-83AD-84CE-CADD8D968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350" y="85104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</a:rPr>
              <a:t>Class in  oops</a:t>
            </a:r>
            <a:r>
              <a:rPr lang="en-US" sz="2000" dirty="0">
                <a:solidFill>
                  <a:srgbClr val="FFFFFF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562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D3F58-7BAB-38AB-7EEC-43094677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6C7F2-F6F6-309B-DC24-37B360C71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br>
              <a:rPr lang="en-US" sz="2000" dirty="0">
                <a:solidFill>
                  <a:srgbClr val="FFFFFF"/>
                </a:solidFill>
              </a:rPr>
            </a:b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class Student {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  String name;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}</a:t>
            </a:r>
            <a:br>
              <a:rPr lang="en-US" sz="3200" dirty="0">
                <a:solidFill>
                  <a:srgbClr val="FFFFFF"/>
                </a:solidFill>
              </a:rPr>
            </a:b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void main() {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  Student s = Student(); // object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9DDA533-31A8-FF44-ED12-ABB8382AF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Objects in  oops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43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0FF2D-6FA1-CAAD-5DB9-F0F5A4BB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Pillars </a:t>
            </a:r>
            <a:r>
              <a:rPr lang="en-US" sz="5400">
                <a:solidFill>
                  <a:srgbClr val="FFFFFF"/>
                </a:solidFill>
              </a:rPr>
              <a:t>In OOPs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0B51F-32CE-5B50-D6F2-FE3EFA9A2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" y="2150507"/>
            <a:ext cx="11756571" cy="4462564"/>
          </a:xfrm>
        </p:spPr>
        <p:txBody>
          <a:bodyPr>
            <a:normAutofit/>
          </a:bodyPr>
          <a:lstStyle/>
          <a:p>
            <a:r>
              <a:rPr lang="en-US" sz="2000" b="1" dirty="0"/>
              <a:t>Encapsulation</a:t>
            </a:r>
          </a:p>
          <a:p>
            <a:pPr marL="0" indent="0">
              <a:buNone/>
            </a:pPr>
            <a:r>
              <a:rPr lang="en-US" sz="2000" dirty="0"/>
              <a:t>      Encapsulation is the concept of </a:t>
            </a:r>
            <a:r>
              <a:rPr lang="en-US" sz="2000" b="1" dirty="0"/>
              <a:t>wrapping data (variables) and methods (functions) together   inside a class</a:t>
            </a:r>
            <a:r>
              <a:rPr lang="en-US" sz="2000" dirty="0"/>
              <a:t> and restricting direct access to the data.</a:t>
            </a:r>
          </a:p>
          <a:p>
            <a:r>
              <a:rPr lang="en-US" sz="2000" b="1" dirty="0"/>
              <a:t>Inheritance</a:t>
            </a:r>
          </a:p>
          <a:p>
            <a:pPr marL="0" indent="0">
              <a:buNone/>
            </a:pPr>
            <a:r>
              <a:rPr lang="en-US" sz="2000" dirty="0"/>
              <a:t>      Inheritance is the concept where </a:t>
            </a:r>
            <a:r>
              <a:rPr lang="en-US" sz="2000" b="1" dirty="0"/>
              <a:t>one class acquires the properties and methods of another  class</a:t>
            </a:r>
            <a:r>
              <a:rPr lang="en-US" sz="2000" dirty="0"/>
              <a:t>, allowing code reuse.</a:t>
            </a:r>
          </a:p>
          <a:p>
            <a:r>
              <a:rPr lang="en-US" sz="2000" b="1" dirty="0"/>
              <a:t>Polymorphism</a:t>
            </a:r>
          </a:p>
          <a:p>
            <a:pPr marL="0" indent="0">
              <a:buNone/>
            </a:pPr>
            <a:r>
              <a:rPr lang="en-US" sz="2000" dirty="0"/>
              <a:t>  Polymorphism means </a:t>
            </a:r>
            <a:r>
              <a:rPr lang="en-US" sz="2000" b="1" dirty="0"/>
              <a:t>one method can have different behaviors in different classes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Abstraction</a:t>
            </a:r>
          </a:p>
          <a:p>
            <a:pPr marL="0" indent="0">
              <a:buNone/>
            </a:pPr>
            <a:r>
              <a:rPr lang="en-US" sz="2000" dirty="0"/>
              <a:t>   Abstraction means </a:t>
            </a:r>
            <a:r>
              <a:rPr lang="en-US" sz="2000" b="1" dirty="0"/>
              <a:t>showing only the essential features of an object and hiding the unnecessary implementation details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20797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7787C-9153-453C-39CC-5CE34875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4269597" cy="2414488"/>
          </a:xfrm>
        </p:spPr>
        <p:txBody>
          <a:bodyPr anchor="t">
            <a:normAutofit/>
          </a:bodyPr>
          <a:lstStyle/>
          <a:p>
            <a:r>
              <a:rPr lang="en-US" sz="5400" dirty="0"/>
              <a:t>Encapsulation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6576-8106-7D2A-A688-5CBC3775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 Student {</a:t>
            </a:r>
          </a:p>
          <a:p>
            <a:pPr marL="0" indent="0">
              <a:buNone/>
            </a:pPr>
            <a:r>
              <a:rPr lang="en-US" sz="2400" dirty="0"/>
              <a:t>  String _name;   // private variable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void </a:t>
            </a:r>
            <a:r>
              <a:rPr lang="en-US" sz="2400" dirty="0" err="1"/>
              <a:t>setName</a:t>
            </a:r>
            <a:r>
              <a:rPr lang="en-US" sz="2400" dirty="0"/>
              <a:t>(String name) {</a:t>
            </a:r>
          </a:p>
          <a:p>
            <a:pPr marL="0" indent="0">
              <a:buNone/>
            </a:pPr>
            <a:r>
              <a:rPr lang="en-US" sz="2400" dirty="0"/>
              <a:t>    _name = name;</a:t>
            </a:r>
          </a:p>
          <a:p>
            <a:pPr marL="0" indent="0">
              <a:buNone/>
            </a:pPr>
            <a:r>
              <a:rPr lang="en-US" sz="2400" dirty="0"/>
              <a:t>  }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String </a:t>
            </a:r>
            <a:r>
              <a:rPr lang="en-US" sz="2400" dirty="0" err="1"/>
              <a:t>getName</a:t>
            </a:r>
            <a:r>
              <a:rPr lang="en-US" sz="2400" dirty="0"/>
              <a:t>() {</a:t>
            </a:r>
          </a:p>
          <a:p>
            <a:pPr marL="0" indent="0">
              <a:buNone/>
            </a:pPr>
            <a:r>
              <a:rPr lang="en-US" sz="2400" dirty="0"/>
              <a:t>    return _name;</a:t>
            </a:r>
          </a:p>
          <a:p>
            <a:pPr marL="0" indent="0">
              <a:buNone/>
            </a:pPr>
            <a:r>
              <a:rPr lang="en-US" sz="2400" dirty="0"/>
              <a:t>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001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ED7EA-4831-5CF3-D13C-7680D7B9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4AEF-4EA3-EA6D-0405-8C72BF8B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000" dirty="0"/>
              <a:t>Inheritance</a:t>
            </a:r>
            <a:endParaRPr lang="en-US" sz="4100" dirty="0">
              <a:solidFill>
                <a:srgbClr val="FFFFFF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4ABF-8CA9-5FBE-E1D0-D04E4424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dirty="0"/>
              <a:t>class Animal {</a:t>
            </a:r>
          </a:p>
          <a:p>
            <a:pPr marL="0" indent="0">
              <a:buNone/>
            </a:pPr>
            <a:r>
              <a:rPr lang="en-US" sz="2600" dirty="0"/>
              <a:t>  void eat() {</a:t>
            </a:r>
          </a:p>
          <a:p>
            <a:pPr marL="0" indent="0">
              <a:buNone/>
            </a:pPr>
            <a:r>
              <a:rPr lang="en-US" sz="2600" dirty="0"/>
              <a:t>    print("Animal is eating");</a:t>
            </a:r>
          </a:p>
          <a:p>
            <a:pPr marL="0" indent="0">
              <a:buNone/>
            </a:pPr>
            <a:r>
              <a:rPr lang="en-US" sz="2600" dirty="0"/>
              <a:t>  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class Dog extends Animal {</a:t>
            </a:r>
          </a:p>
          <a:p>
            <a:pPr marL="0" indent="0">
              <a:buNone/>
            </a:pPr>
            <a:r>
              <a:rPr lang="en-US" sz="2600" dirty="0"/>
              <a:t>  void bark() {</a:t>
            </a:r>
          </a:p>
          <a:p>
            <a:pPr marL="0" indent="0">
              <a:buNone/>
            </a:pPr>
            <a:r>
              <a:rPr lang="en-US" sz="2600" dirty="0"/>
              <a:t>  print("Dog is barking");</a:t>
            </a:r>
          </a:p>
          <a:p>
            <a:pPr marL="0" indent="0">
              <a:buNone/>
            </a:pPr>
            <a:r>
              <a:rPr lang="en-US" sz="2600" dirty="0"/>
              <a:t>  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6340858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3D728-563B-1637-36E4-0D9FDADA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DCBE1-B597-02E4-DDE0-4ABE4F27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480434" cy="5585619"/>
          </a:xfrm>
        </p:spPr>
        <p:txBody>
          <a:bodyPr>
            <a:normAutofit/>
          </a:bodyPr>
          <a:lstStyle/>
          <a:p>
            <a:r>
              <a:rPr lang="en-US" dirty="0"/>
              <a:t>Polymorphism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F5D55-2542-E999-39E6-50C683D3D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600" dirty="0"/>
              <a:t>class Animal {</a:t>
            </a:r>
          </a:p>
          <a:p>
            <a:pPr marL="0" indent="0">
              <a:buNone/>
            </a:pPr>
            <a:r>
              <a:rPr lang="en-US" sz="2600" dirty="0"/>
              <a:t>  void sound() {</a:t>
            </a:r>
          </a:p>
          <a:p>
            <a:pPr marL="0" indent="0">
              <a:buNone/>
            </a:pPr>
            <a:r>
              <a:rPr lang="en-US" sz="2600" dirty="0"/>
              <a:t>    print("Animal sound");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class Dog extends Animal {</a:t>
            </a:r>
          </a:p>
          <a:p>
            <a:pPr marL="0" indent="0">
              <a:buNone/>
            </a:pPr>
            <a:r>
              <a:rPr lang="en-US" sz="2600" dirty="0"/>
              <a:t>  @override</a:t>
            </a:r>
          </a:p>
          <a:p>
            <a:pPr marL="0" indent="0">
              <a:buNone/>
            </a:pPr>
            <a:r>
              <a:rPr lang="en-US" sz="2600" dirty="0"/>
              <a:t>  void sound() {</a:t>
            </a:r>
          </a:p>
          <a:p>
            <a:pPr marL="0" indent="0">
              <a:buNone/>
            </a:pPr>
            <a:r>
              <a:rPr lang="en-US" sz="2600" dirty="0"/>
              <a:t>    print("Dog barks");</a:t>
            </a:r>
          </a:p>
          <a:p>
            <a:pPr marL="0" indent="0">
              <a:buNone/>
            </a:pPr>
            <a:r>
              <a:rPr lang="en-US" sz="2600" dirty="0"/>
              <a:t>  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749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5BD46-AB33-404D-FF38-5AF48680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/>
              <a:t>Abstraction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65437-C601-30DD-D6C5-89C0925E1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abstract class Shape {</a:t>
            </a:r>
          </a:p>
          <a:p>
            <a:pPr marL="0" indent="0">
              <a:buNone/>
            </a:pPr>
            <a:r>
              <a:rPr lang="en-US" sz="2400" dirty="0"/>
              <a:t>  void draw();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class Circle extends Shape {</a:t>
            </a:r>
          </a:p>
          <a:p>
            <a:pPr marL="0" indent="0">
              <a:buNone/>
            </a:pPr>
            <a:r>
              <a:rPr lang="en-US" sz="2400" dirty="0"/>
              <a:t>  @override</a:t>
            </a:r>
          </a:p>
          <a:p>
            <a:pPr marL="0" indent="0">
              <a:buNone/>
            </a:pPr>
            <a:r>
              <a:rPr lang="en-US" sz="2400" dirty="0"/>
              <a:t>  void draw() {</a:t>
            </a:r>
          </a:p>
          <a:p>
            <a:pPr marL="0" indent="0">
              <a:buNone/>
            </a:pPr>
            <a:r>
              <a:rPr lang="en-US" sz="2400" dirty="0"/>
              <a:t>    print("Drawing circle");</a:t>
            </a:r>
          </a:p>
          <a:p>
            <a:pPr marL="0" indent="0">
              <a:buNone/>
            </a:pPr>
            <a:r>
              <a:rPr lang="en-US" sz="2400" dirty="0"/>
              <a:t>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4752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493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OOPS IN DART </vt:lpstr>
      <vt:lpstr>WHAT IS OOPS?</vt:lpstr>
      <vt:lpstr>Main OOP Concepts</vt:lpstr>
      <vt:lpstr>CLASS &amp; OOPS IN DART</vt:lpstr>
      <vt:lpstr>  CLASS    &amp;            OBJECT</vt:lpstr>
      <vt:lpstr>class ClassName {   // variables   dataType variableName;    // method   void methodName() {     // code   } }</vt:lpstr>
      <vt:lpstr>  class Student {   String name; }  void main() {   Student s = Student(); // object }</vt:lpstr>
      <vt:lpstr>Pillars In OOPs</vt:lpstr>
      <vt:lpstr>Encapsulation</vt:lpstr>
      <vt:lpstr>Inheritance</vt:lpstr>
      <vt:lpstr>Polymorphism</vt:lpstr>
      <vt:lpstr>Abstraction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Teachers</dc:creator>
  <cp:lastModifiedBy>Teachers</cp:lastModifiedBy>
  <cp:revision>8</cp:revision>
  <dcterms:created xsi:type="dcterms:W3CDTF">2026-03-06T00:54:31Z</dcterms:created>
  <dcterms:modified xsi:type="dcterms:W3CDTF">2026-03-15T00:27:11Z</dcterms:modified>
</cp:coreProperties>
</file>